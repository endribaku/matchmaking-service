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alibri"/>
              </a:rPr>
              <a:t>PARALLEL PROGRAMMING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>
                <a:solidFill>
                  <a:srgbClr val="E8EAED"/>
                </a:solidFill>
                <a:latin typeface="Calibri"/>
              </a:rPr>
              <a:t>Matchmaking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8A8F97"/>
                </a:solidFill>
                <a:latin typeface="Calibri"/>
              </a:rPr>
              <a:t>A 5v5 matchmaking system built with java.util.concurrent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7"/>
                </a:solidFill>
                <a:latin typeface="Calibri"/>
              </a:rPr>
              <a:t>Student: ____________________     |     Course: Parallel Programming     |     Epoka University,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What is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8EAED"/>
                </a:solidFill>
                <a:latin typeface="Calibri"/>
              </a:rPr>
              <a:t>A small 5v5 matchmaking service inspired by competitive games.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74320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AED"/>
                </a:solidFill>
                <a:latin typeface="Calibri"/>
              </a:rPr>
              <a:t>Players join a queue with an MMR (skill rating).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52044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AED"/>
                </a:solidFill>
                <a:latin typeface="Calibri"/>
              </a:rPr>
              <a:t>A background matchmaker continuously pairs 10 skill-close players into two balanced teams.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29768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AED"/>
                </a:solidFill>
                <a:latin typeface="Calibri"/>
              </a:rPr>
              <a:t>Bots are constantly added to the queue, so the service is always alive.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50749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AED"/>
                </a:solidFill>
                <a:latin typeface="Calibri"/>
              </a:rPr>
              <a:t>Same kind of problem solved by CS2, Valorant, LoL and Dota 2 — at student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Calibri"/>
              </a:rPr>
              <a:t>Java 17+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com.sun.net.httpserver.HttpServer  (built-in JDK)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java.util.concurrent  (all parallelism)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Jackson  (JSON serialization)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Maven  (build)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Calibri"/>
              </a:rPr>
              <a:t>React 18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Plain JavaScript  (no TypeScript)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4 components  (Login, Lobby, Queue, Match)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LiveStats sidebar  (always visible)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• Polls /api/stats every 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8F97"/>
                </a:solidFill>
                <a:latin typeface="Calibri"/>
              </a:rPr>
              <a:t>No frameworks. No databases. Just the JDK + React. Everything lives in memory while the server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Four parallel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532120" cy="205740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D0F12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AED"/>
                </a:solidFill>
                <a:latin typeface="Calibri"/>
              </a:rPr>
              <a:t>HTTP request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9631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59E0B"/>
                </a:solidFill>
                <a:latin typeface="Calibri"/>
              </a:rPr>
              <a:t>8 worker 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Serves the REST API. Multiple browsers can register, queue and poll at the same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532120" cy="205740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756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D0F12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5740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AED"/>
                </a:solidFill>
                <a:latin typeface="Calibri"/>
              </a:rPr>
              <a:t>Matchmaker tick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9631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59E0B"/>
                </a:solidFill>
                <a:latin typeface="Calibri"/>
              </a:rPr>
              <a:t>1 thread, every 500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Drains the queue, sorts by MMR, finds 10 skill-close players, builds two balanced teams.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5532120" cy="205740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1596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D0F12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9768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AED"/>
                </a:solidFill>
                <a:latin typeface="Calibri"/>
              </a:rPr>
              <a:t>Bot populator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3659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59E0B"/>
                </a:solidFill>
                <a:latin typeface="Calibri"/>
              </a:rPr>
              <a:t>1 thread, every 500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Keeps the queue full of bots so the service is always alive. Target scales with worker count.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23360"/>
            <a:ext cx="5532120" cy="205740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1596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D0F12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29768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AED"/>
                </a:solidFill>
                <a:latin typeface="Calibri"/>
              </a:rPr>
              <a:t>Match-setup pool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3659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59E0B"/>
                </a:solidFill>
                <a:latin typeface="Calibri"/>
              </a:rPr>
              <a:t>N workers (configurable)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6636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After a match is formed, setup work runs here. More workers ⇒ more matches prepared in parallel.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How a player flows through the thread pools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F97"/>
                </a:solidFill>
                <a:latin typeface="Calibri"/>
              </a:rPr>
              <a:t>Four threads, two shared structures. Every horizontal arrow crosses a thread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1 — PRODUCERS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Calibri"/>
              </a:rPr>
              <a:t>HTTP join + populator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02152"/>
            <a:ext cx="123444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8 HTTP workers push tickets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  when players click Find Match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Bot populator pushes bots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  every 500 ms to keep queue full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17520" y="3840480"/>
            <a:ext cx="411480" cy="36576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Calibri"/>
              </a:rPr>
              <a:t>2 — SHARED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78892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1D232B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971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Calibri"/>
              </a:rPr>
              <a:t>LinkedBlockingQueue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502152"/>
            <a:ext cx="123444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703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Thread-safe FIFO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Producers call offer()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Consumer (matchmaker)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  calls poll() once per tick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35040" y="3840480"/>
            <a:ext cx="411480" cy="36576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3 — MATCHMAKER TICK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78892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Calibri"/>
              </a:rPr>
              <a:t>1 thread · every 500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502152"/>
            <a:ext cx="123444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03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Drain queue → sorted pool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Sort by MMR ascending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Sliding window of 10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Snake-draft team balance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matches.put + setupPool.submit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52560" y="3840480"/>
            <a:ext cx="411480" cy="36576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42316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4 — SETUP POOL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78892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971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Calibri"/>
              </a:rPr>
              <a:t>N workers · resizable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3502152"/>
            <a:ext cx="123444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3703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Each worker prepares one match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  (simulated 800 ms allocation)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With pool size N, up to N matches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  set up at the same time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Dropdown: 1 / 2 / 4 /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PARALLEL READ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onsolas"/>
              </a:rPr>
              <a:t>GET /api/queue/status  →  ConcurrentHashMap.get(playerId)  →  match payload  (no lock; all polls in parallel)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java.util.concurrent primitives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64240" cy="530352"/>
          </a:xfrm>
          <a:prstGeom prst="rect">
            <a:avLst/>
          </a:prstGeom>
          <a:solidFill>
            <a:srgbClr val="16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LinkedBlockingQueue&lt;QueueTicket&gt;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4767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Producer/consumer hand-off — HTTP threads push, matchmaker drains.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11064240" cy="530352"/>
          </a:xfrm>
          <a:prstGeom prst="rect">
            <a:avLst/>
          </a:prstGeom>
          <a:solidFill>
            <a:srgbClr val="1D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0545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ScheduledExecutorService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146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Matchmaker tick and bot populator on separate threads.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62656"/>
            <a:ext cx="11064240" cy="530352"/>
          </a:xfrm>
          <a:prstGeom prst="rect">
            <a:avLst/>
          </a:prstGeom>
          <a:solidFill>
            <a:srgbClr val="16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7238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ThreadPoolExecutor ×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0815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HTTP request pool and match-setup pool (resizable live).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11064240" cy="530352"/>
          </a:xfrm>
          <a:prstGeom prst="rect">
            <a:avLst/>
          </a:prstGeom>
          <a:solidFill>
            <a:srgbClr val="1D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3931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ConcurrentHashMap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48456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Lock-free reads of player &amp; match registries under heavy polling.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96512"/>
            <a:ext cx="11064240" cy="530352"/>
          </a:xfrm>
          <a:prstGeom prst="rect">
            <a:avLst/>
          </a:prstGeom>
          <a:solidFill>
            <a:srgbClr val="16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ConcurrentLinkedQueue / AtomicLong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215384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Lock-free counters: tick count, match IDs, bots spawned.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11064240" cy="530352"/>
          </a:xfrm>
          <a:prstGeom prst="rect">
            <a:avLst/>
          </a:prstGeom>
          <a:solidFill>
            <a:srgbClr val="1D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ReentrantLock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78231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Critical section around the sorted waiting pool inside one tick.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30368"/>
            <a:ext cx="11064240" cy="530352"/>
          </a:xfrm>
          <a:prstGeom prst="rect">
            <a:avLst/>
          </a:prstGeom>
          <a:solidFill>
            <a:srgbClr val="16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4009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volatile + daemon threads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3492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Cross-thread visibility for last-tick duration; clean shutdown.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How the matchmaker forms a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8F97"/>
                </a:solidFill>
                <a:latin typeface="Calibri"/>
              </a:rPr>
              <a:t>Every 500 ms, on a dedicated background thread: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5059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DRAIN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5059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Pull new arrivals from the BlockingQueue into a sorted pool.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992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Drop tickets for players who cancelled.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4787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4787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Sort the pool by MMR ascending — adjacent players are skill-close.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9651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09651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Slide a window of 10. If the MMR spread fits the tolerance, form a match.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4515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RELAX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4515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Tolerance starts at 300 MMR and widens 100 MMR / second waited (cap 1500).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12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19379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9379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Sort the 10 by MMR desc, assign A,B,B,A,A,B,B,A,A,B — snake draft.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60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7.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74243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Consolas"/>
              </a:rPr>
              <a:t>HAND 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7424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EAED"/>
                </a:solidFill>
                <a:latin typeface="Calibri"/>
              </a:rPr>
              <a:t>Submit setupMatch() to the parallel setup pool. Tick continues without blocking.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TEAM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Snake draft keeps teams fair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F97"/>
                </a:solidFill>
                <a:latin typeface="Calibri"/>
              </a:rPr>
              <a:t>Sort 10 players by MMR (highest first), then assign in pattern A B B A A B B A A 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212080" cy="33832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TEAM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8EAED"/>
                </a:solidFill>
                <a:latin typeface="Calibri"/>
              </a:rPr>
              <a:t>8450 MMR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2000 MMR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1800 MMR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1700 MMR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09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1500 MMR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1450 MMR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423160"/>
            <a:ext cx="5212080" cy="33832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651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TEAM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971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8EAED"/>
                </a:solidFill>
                <a:latin typeface="Calibri"/>
              </a:rPr>
              <a:t>8400 MMR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36118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1900 MMR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977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977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1850 MMR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343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343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1650 MMR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709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4709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1600 MMR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074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 #10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1400 MMR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A8F97"/>
                </a:solidFill>
                <a:latin typeface="Calibri"/>
              </a:rPr>
              <a:t>Total difference: 50 MMR.  Typical match: under 100 MMR across two 5-stacks.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Live parallelism, visible in the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AED"/>
                </a:solidFill>
                <a:latin typeface="Calibri"/>
              </a:rPr>
              <a:t>An always-visible sidebar shows the four threads working in real time.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5786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9E0B"/>
                </a:solidFill>
                <a:latin typeface="Calibri"/>
              </a:rPr>
              <a:t>Two big counters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Players in queue and total matches formed.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644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9E0B"/>
                </a:solidFill>
                <a:latin typeface="Calibri"/>
              </a:rPr>
              <a:t>Pulse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Green dot lights up when a thread is busy.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9502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9E0B"/>
                </a:solidFill>
                <a:latin typeface="Calibri"/>
              </a:rPr>
              <a:t>Capacity bars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Visualize how many setup workers are running right now.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6360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9E0B"/>
                </a:solidFill>
                <a:latin typeface="Calibri"/>
              </a:rPr>
              <a:t>Live dropdown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Resize the setup pool live: 1, 2, 4 or 8 workers.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53218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9E0B"/>
                </a:solidFill>
                <a:latin typeface="Calibri"/>
              </a:rPr>
              <a:t>Visible speedup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32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Switch from 1 to 8 workers — match throughput jumps ~6×.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194560"/>
            <a:ext cx="4754880" cy="429768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468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LIVE SYSTEM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880360"/>
            <a:ext cx="1965960" cy="868680"/>
          </a:xfrm>
          <a:prstGeom prst="roundRect">
            <a:avLst>
              <a:gd name="adj" fmla="val 5000"/>
            </a:avLst>
          </a:prstGeom>
          <a:solidFill>
            <a:srgbClr val="1D232B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92608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59E0B"/>
                </a:solidFill>
                <a:latin typeface="Calibri"/>
              </a:rPr>
              <a:t>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383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A8F97"/>
                </a:solidFill>
                <a:latin typeface="Calibri"/>
              </a:rPr>
              <a:t>in queue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880360"/>
            <a:ext cx="1965960" cy="868680"/>
          </a:xfrm>
          <a:prstGeom prst="roundRect">
            <a:avLst>
              <a:gd name="adj" fmla="val 5000"/>
            </a:avLst>
          </a:prstGeom>
          <a:solidFill>
            <a:srgbClr val="1D232B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92608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59E0B"/>
                </a:solidFill>
                <a:latin typeface="Calibri"/>
              </a:rPr>
              <a:t>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383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A8F97"/>
                </a:solidFill>
                <a:latin typeface="Calibri"/>
              </a:rPr>
              <a:t>matches formed</a:t>
            </a:r>
          </a:p>
        </p:txBody>
      </p:sp>
      <p:sp>
        <p:nvSpPr>
          <p:cNvPr id="32" name="Oval 31"/>
          <p:cNvSpPr/>
          <p:nvPr/>
        </p:nvSpPr>
        <p:spPr>
          <a:xfrm>
            <a:off x="7223760" y="423367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41148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AED"/>
                </a:solidFill>
                <a:latin typeface="Calibri"/>
              </a:rPr>
              <a:t>Matchmaker tick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3434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onsolas"/>
              </a:rPr>
              <a:t>tick #142 · 3 ms</a:t>
            </a:r>
          </a:p>
        </p:txBody>
      </p:sp>
      <p:sp>
        <p:nvSpPr>
          <p:cNvPr id="35" name="Oval 34"/>
          <p:cNvSpPr/>
          <p:nvPr/>
        </p:nvSpPr>
        <p:spPr>
          <a:xfrm>
            <a:off x="7223760" y="473659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4617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AED"/>
                </a:solidFill>
                <a:latin typeface="Calibri"/>
              </a:rPr>
              <a:t>Bot populator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846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onsolas"/>
              </a:rPr>
              <a:t>264 bots spawned</a:t>
            </a:r>
          </a:p>
        </p:txBody>
      </p:sp>
      <p:sp>
        <p:nvSpPr>
          <p:cNvPr id="38" name="Oval 37"/>
          <p:cNvSpPr/>
          <p:nvPr/>
        </p:nvSpPr>
        <p:spPr>
          <a:xfrm>
            <a:off x="7223760" y="52395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51206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AED"/>
                </a:solidFill>
                <a:latin typeface="Calibri"/>
              </a:rPr>
              <a:t>Match-setup pool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5349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onsolas"/>
              </a:rPr>
              <a:t>4 / 4 workers busy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574243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5623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AED"/>
                </a:solidFill>
                <a:latin typeface="Calibri"/>
              </a:rPr>
              <a:t>HTTP request pool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5852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onsolas"/>
              </a:rPr>
              <a:t>1 / 8 workers busy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How to run the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1.  Start the backend  (in one terminal)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0972800" cy="73152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AED"/>
                </a:solidFill>
                <a:latin typeface="Consolas"/>
              </a:rPr>
              <a:t>cd backend &amp;&amp; mvn compile exec:java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2.  Start the frontend  (in another terminal)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0972800" cy="73152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50791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AED"/>
                </a:solidFill>
                <a:latin typeface="Consolas"/>
              </a:rPr>
              <a:t>cd frontend &amp;&amp; npm install &amp;&amp; npm run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3.  Open the app and 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161A20"/>
          </a:solidFill>
          <a:ln w="9525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4068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 Open  http://localhost:5173  — enter any name to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332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 Click 'Find Match' — you'll be matched within a second (the queue is full of bots).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02589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AED"/>
                </a:solidFill>
                <a:latin typeface="Calibri"/>
              </a:rPr>
              <a:t>•  Try the 'Match-setup workers' dropdown: switch from 1 to 8 and watch the capacity bar fill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8F97"/>
                </a:solidFill>
                <a:latin typeface="Calibri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8EAED"/>
                </a:solidFill>
                <a:latin typeface="Calibri"/>
              </a:rPr>
              <a:t>What this project demonstrates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D0F1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Real-world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Game matchmaking — the same class of problem CS2, Valorant and LoL solve.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61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D0F1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Four cooperating thread pools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63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HTTP workers, matchmaker tick, bot populator, match-setup pool.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30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D0F12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66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Seven concurrency primitives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31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BlockingQueue, ScheduledExecutorService, ThreadPoolExecutor, ConcurrentHashMap, AtomicLong, ReentrantLock, volatile.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44805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988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D0F12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Live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00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The UI shows every thread pool busy in real time.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53492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67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D0F12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Calibri"/>
              </a:rPr>
              <a:t>Tunable parallelism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Calibri"/>
              </a:rPr>
              <a:t>Resize the setup pool from 1 to 8 workers live — visible speedup.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