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alibri"/>
              </a:rPr>
              <a:t>PARALLEL PROGRAMMING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E8EAED"/>
                </a:solidFill>
                <a:latin typeface="Calibri"/>
              </a:rPr>
              <a:t>Matchmaking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8A8F97"/>
                </a:solidFill>
                <a:latin typeface="Calibri"/>
              </a:rPr>
              <a:t>A 5v5 matchmaking system built with java.util.concurrent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A8F97"/>
                </a:solidFill>
                <a:latin typeface="Calibri"/>
              </a:rPr>
              <a:t>Student: ____________________     |     Course: Parallel Programming     |     Epoka University,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What is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8EAED"/>
                </a:solidFill>
                <a:latin typeface="Calibri"/>
              </a:rPr>
              <a:t>A small 5v5 matchmaking service inspired by competitive games.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74320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791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AED"/>
                </a:solidFill>
                <a:latin typeface="Calibri"/>
              </a:rPr>
              <a:t>Players join a queue with an MMR (skill rating).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52044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AED"/>
                </a:solidFill>
                <a:latin typeface="Calibri"/>
              </a:rPr>
              <a:t>A background matchmaker continuously pairs 10 skill-close players into two balanced teams.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429768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AED"/>
                </a:solidFill>
                <a:latin typeface="Calibri"/>
              </a:rPr>
              <a:t>Bots are constantly added to the queue, so the service is always alive.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5074920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AED"/>
                </a:solidFill>
                <a:latin typeface="Calibri"/>
              </a:rPr>
              <a:t>Same kind of problem solved by CS2, Valorant, LoL and Dota 2 — at student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Tech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349240" cy="365760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59E0B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E8EAED"/>
                </a:solidFill>
                <a:latin typeface="Calibri"/>
              </a:rPr>
              <a:t>Java 17+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com.sun.net.httpserver.HttpServer  (built-in JDK)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java.util.concurrent  (all parallelism)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Jackson  (JSON serialization)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Maven  (build)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011680"/>
            <a:ext cx="5349240" cy="365760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860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59E0B"/>
                </a:solidFill>
                <a:latin typeface="Calibri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5176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E8EAED"/>
                </a:solidFill>
                <a:latin typeface="Calibri"/>
              </a:rPr>
              <a:t>React 18 + Vite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38328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Plain JavaScript  (no TypeScript)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4 components  (Login, Lobby, Queue, Match)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LiveStats sidebar  (always visible)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• Polls /api/stats every 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8F97"/>
                </a:solidFill>
                <a:latin typeface="Calibri"/>
              </a:rPr>
              <a:t>No frameworks. No databases. Just the JDK + React. Everything lives in memory while the server runs.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Four parallel components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532120" cy="205740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D0F12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5740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AED"/>
                </a:solidFill>
                <a:latin typeface="Calibri"/>
              </a:rPr>
              <a:t>HTTP request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96312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59E0B"/>
                </a:solidFill>
                <a:latin typeface="Calibri"/>
              </a:rPr>
              <a:t>8 worker threads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260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Serves the REST API. Multiple browsers can register, queue and poll at the same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532120" cy="205740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205740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7568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D0F12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05740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AED"/>
                </a:solidFill>
                <a:latin typeface="Calibri"/>
              </a:rPr>
              <a:t>Matchmaker tick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496312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59E0B"/>
                </a:solidFill>
                <a:latin typeface="Calibri"/>
              </a:rPr>
              <a:t>1 thread, every 500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2608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Drains the queue, sorts by MMR, finds 10 skill-close players, builds two balanced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23360"/>
            <a:ext cx="5532120" cy="205740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31596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D0F12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29768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AED"/>
                </a:solidFill>
                <a:latin typeface="Calibri"/>
              </a:rPr>
              <a:t>Bot populator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736592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59E0B"/>
                </a:solidFill>
                <a:latin typeface="Calibri"/>
              </a:rPr>
              <a:t>1 thread, every 500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6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Keeps the queue full of bots so the service is always alive. Target scales with worker count.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023360"/>
            <a:ext cx="5532120" cy="205740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31596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D0F12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29768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AED"/>
                </a:solidFill>
                <a:latin typeface="Calibri"/>
              </a:rPr>
              <a:t>Match-setup pool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36592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59E0B"/>
                </a:solidFill>
                <a:latin typeface="Calibri"/>
              </a:rPr>
              <a:t>N workers (configurable)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66360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After a match is formed, setup work runs here. More workers ⇒ more matches prepared in parallel.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CONCURRENCY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java.util.concurrent primitives used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385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LinkedBlockingQueue&lt;QueueTicket&gt;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94767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Producer/consumer hand-off — HTTP threads push, matchmaker drains.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1064240" cy="530352"/>
          </a:xfrm>
          <a:prstGeom prst="rect">
            <a:avLst/>
          </a:prstGeom>
          <a:solidFill>
            <a:srgbClr val="1D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054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ScheduledExecutorService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Matchmaker tick and bot populator on separate threads.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723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ThreadPoolExecutor ×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08152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HTTP request pool and match-setup pool (resizable live).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9584"/>
            <a:ext cx="11064240" cy="530352"/>
          </a:xfrm>
          <a:prstGeom prst="rect">
            <a:avLst/>
          </a:prstGeom>
          <a:solidFill>
            <a:srgbClr val="1D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393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ConcurrentHashMap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648456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Lock-free reads of player &amp; match registries under heavy polling.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96512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062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ConcurrentLinkedQueue / AtomicLong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21538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Lock-free counters: tick count, match IDs, bots spawned.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63440"/>
            <a:ext cx="11064240" cy="530352"/>
          </a:xfrm>
          <a:prstGeom prst="rect">
            <a:avLst/>
          </a:prstGeom>
          <a:solidFill>
            <a:srgbClr val="1D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773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ReentrantLock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78231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Critical section around the sorted waiting pool inside one tick.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30368"/>
            <a:ext cx="11064240" cy="530352"/>
          </a:xfrm>
          <a:prstGeom prst="rect">
            <a:avLst/>
          </a:prstGeom>
          <a:solidFill>
            <a:srgbClr val="16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009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volatile + daemon threads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534924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Cross-thread visibility for last-tick duration; clean shutdown.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How the matchmaker forms a match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8F97"/>
                </a:solidFill>
                <a:latin typeface="Calibri"/>
              </a:rPr>
              <a:t>Every 500 ms, on a dedicated background thread: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5059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DRAIN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45059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Pull new arrivals from the BlockingQueue into a sorted pool.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99923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Drop tickets for players who cancelled.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661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4787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SORT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4787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Sort the pool by MMR ascending — adjacent players are skill-close.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9651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09651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Slide a window of 10. If the MMR spread fits the tolerance, form a match.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634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4515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RELAX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64515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Tolerance starts at 300 MMR and widens 100 MMR / second waited (cap 1500).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2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19379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19379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Sort the 10 by MMR desc, assign A,B,B,A,A,B,B,A,A,B — snake draft.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760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7.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74243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59E0B"/>
                </a:solidFill>
                <a:latin typeface="Consolas"/>
              </a:rPr>
              <a:t>HAND 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742432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AED"/>
                </a:solidFill>
                <a:latin typeface="Calibri"/>
              </a:rPr>
              <a:t>Submit setupMatch() to the parallel setup pool. Tick continues without blocking.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TEAM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Snake draft keeps teams fair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8F97"/>
                </a:solidFill>
                <a:latin typeface="Calibri"/>
              </a:rPr>
              <a:t>Sort 10 players by MMR (highest first), then assign in pattern A B B A A B B A A 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59E0B"/>
                </a:solidFill>
                <a:latin typeface="Calibri"/>
              </a:rPr>
              <a:t>TEAM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8EAED"/>
                </a:solidFill>
                <a:latin typeface="Calibri"/>
              </a:rPr>
              <a:t>8450 MMR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118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2000 MMR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977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1800 MMR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1700 MMR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1500 MMR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07492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1450 MMR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242316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651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0B981"/>
                </a:solidFill>
                <a:latin typeface="Calibri"/>
              </a:rPr>
              <a:t>TEAM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9718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8EAED"/>
                </a:solidFill>
                <a:latin typeface="Calibri"/>
              </a:rPr>
              <a:t>8400 MMR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36118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1900 MMR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9776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977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1850 MMR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4343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434340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1650 MMR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7091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98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1600 MMR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0749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 #10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507492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1400 MMR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8A8F97"/>
                </a:solidFill>
                <a:latin typeface="Calibri"/>
              </a:rPr>
              <a:t>Total difference: 50 MMR.  Typical match: under 100 MMR across two 5-stacks.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Live parallelism, visible in the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AED"/>
                </a:solidFill>
                <a:latin typeface="Calibri"/>
              </a:rPr>
              <a:t>An always-visible sidebar shows the four threads working in real time.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5786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59E0B"/>
                </a:solidFill>
                <a:latin typeface="Calibri"/>
              </a:rPr>
              <a:t>Two big counters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Players in queue and total matches formed.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2644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59E0B"/>
                </a:solidFill>
                <a:latin typeface="Calibri"/>
              </a:rPr>
              <a:t>Pulse indicators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Green dot lights up when a thread is busy.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9502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40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59E0B"/>
                </a:solidFill>
                <a:latin typeface="Calibri"/>
              </a:rPr>
              <a:t>Capacity bars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Visualize how many setup workers are running right now.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6360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59E0B"/>
                </a:solidFill>
                <a:latin typeface="Calibri"/>
              </a:rPr>
              <a:t>Live dropdown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Resize the setup pool live: 1, 2, 4 or 8 workers.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212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59E0B"/>
                </a:solidFill>
                <a:latin typeface="Calibri"/>
              </a:rPr>
              <a:t>Visible speedup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32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Switch from 1 to 8 workers — match throughput jumps ~6×.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2194560"/>
            <a:ext cx="4754880" cy="429768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4688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LIVE SYSTEM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880360"/>
            <a:ext cx="1965960" cy="868680"/>
          </a:xfrm>
          <a:prstGeom prst="roundRect">
            <a:avLst>
              <a:gd name="adj" fmla="val 5000"/>
            </a:avLst>
          </a:prstGeom>
          <a:solidFill>
            <a:srgbClr val="1D232B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29260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59E0B"/>
                </a:solidFill>
                <a:latin typeface="Calibri"/>
              </a:rPr>
              <a:t>78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33832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A8F97"/>
                </a:solidFill>
                <a:latin typeface="Calibri"/>
              </a:rPr>
              <a:t>in queue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2880360"/>
            <a:ext cx="1965960" cy="868680"/>
          </a:xfrm>
          <a:prstGeom prst="roundRect">
            <a:avLst>
              <a:gd name="adj" fmla="val 5000"/>
            </a:avLst>
          </a:prstGeom>
          <a:solidFill>
            <a:srgbClr val="1D232B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29260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59E0B"/>
                </a:solidFill>
                <a:latin typeface="Calibri"/>
              </a:rPr>
              <a:t>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3832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A8F97"/>
                </a:solidFill>
                <a:latin typeface="Calibri"/>
              </a:rPr>
              <a:t>matches formed</a:t>
            </a:r>
          </a:p>
        </p:txBody>
      </p:sp>
      <p:sp>
        <p:nvSpPr>
          <p:cNvPr id="32" name="Oval 31"/>
          <p:cNvSpPr/>
          <p:nvPr/>
        </p:nvSpPr>
        <p:spPr>
          <a:xfrm>
            <a:off x="7223760" y="42336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0" y="41148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AED"/>
                </a:solidFill>
                <a:latin typeface="Calibri"/>
              </a:rPr>
              <a:t>Matchmaker tick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3434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onsolas"/>
              </a:rPr>
              <a:t>tick #142 · 3 ms</a:t>
            </a:r>
          </a:p>
        </p:txBody>
      </p:sp>
      <p:sp>
        <p:nvSpPr>
          <p:cNvPr id="35" name="Oval 34"/>
          <p:cNvSpPr/>
          <p:nvPr/>
        </p:nvSpPr>
        <p:spPr>
          <a:xfrm>
            <a:off x="7223760" y="473659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4617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AED"/>
                </a:solidFill>
                <a:latin typeface="Calibri"/>
              </a:rPr>
              <a:t>Bot populator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4846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onsolas"/>
              </a:rPr>
              <a:t>264 bots spawned</a:t>
            </a:r>
          </a:p>
        </p:txBody>
      </p:sp>
      <p:sp>
        <p:nvSpPr>
          <p:cNvPr id="38" name="Oval 37"/>
          <p:cNvSpPr/>
          <p:nvPr/>
        </p:nvSpPr>
        <p:spPr>
          <a:xfrm>
            <a:off x="7223760" y="52395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51206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AED"/>
                </a:solidFill>
                <a:latin typeface="Calibri"/>
              </a:rPr>
              <a:t>Match-setup pool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53492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onsolas"/>
              </a:rPr>
              <a:t>4 / 4 workers busy</a:t>
            </a:r>
          </a:p>
        </p:txBody>
      </p:sp>
      <p:sp>
        <p:nvSpPr>
          <p:cNvPr id="41" name="Oval 40"/>
          <p:cNvSpPr/>
          <p:nvPr/>
        </p:nvSpPr>
        <p:spPr>
          <a:xfrm>
            <a:off x="7223760" y="57424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0" y="56235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AED"/>
                </a:solidFill>
                <a:latin typeface="Calibri"/>
              </a:rPr>
              <a:t>HTTP request pool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58521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onsolas"/>
              </a:rPr>
              <a:t>1 / 8 workers busy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How to run the 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1.  Start the backend  (in one terminal)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10972800" cy="73152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AED"/>
                </a:solidFill>
                <a:latin typeface="Consolas"/>
              </a:rPr>
              <a:t>cd backend &amp;&amp; mvn compile exec:java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2.  Start the frontend  (in another terminal)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0972800" cy="73152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AED"/>
                </a:solidFill>
                <a:latin typeface="Consolas"/>
              </a:rPr>
              <a:t>cd frontend &amp;&amp; npm install &amp;&amp; npm run dev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3.  Open the app and 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94960"/>
            <a:ext cx="10972800" cy="1005840"/>
          </a:xfrm>
          <a:prstGeom prst="roundRect">
            <a:avLst>
              <a:gd name="adj" fmla="val 5000"/>
            </a:avLst>
          </a:prstGeom>
          <a:solidFill>
            <a:srgbClr val="161A20"/>
          </a:solidFill>
          <a:ln w="9525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E8EAED"/>
                </a:solidFill>
                <a:latin typeface="Calibri"/>
              </a:rPr>
              <a:t>•  Open  http://localhost:5173  — enter any name to register.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332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E8EAED"/>
                </a:solidFill>
                <a:latin typeface="Calibri"/>
              </a:rPr>
              <a:t>•  Click 'Find Match' — you'll be matched within a second (the queue is full of bots).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025896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E8EAED"/>
                </a:solidFill>
                <a:latin typeface="Calibri"/>
              </a:rPr>
              <a:t>•  Try the 'Match-setup workers' dropdown: switch from 1 to 8 and watch the capacity bar fill 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0" y="649224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8F97"/>
                </a:solidFill>
                <a:latin typeface="Calibri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Calibri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8EAED"/>
                </a:solidFill>
                <a:latin typeface="Calibri"/>
              </a:rPr>
              <a:t>What this project demonstrates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928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0D0F1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828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Real-world 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94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Game matchmaking — the same class of problem CS2, Valorant and LoL solve.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743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61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0D0F1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97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Four cooperating thread pools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63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HTTP workers, matchmaker tick, bot populator, match-setup pool.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6301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0D0F1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66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Seven concurrency primitives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931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BlockingQueue, ScheduledExecutorService, ThreadPoolExecutor, ConcurrentHashMap, AtomicLong, ReentrantLock, volatile.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448056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4988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0D0F12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434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Live 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800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The UI shows every thread pool busy in real time.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53492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367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0D0F12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303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9E0B"/>
                </a:solidFill>
                <a:latin typeface="Calibri"/>
              </a:rPr>
              <a:t>Tunable parallelism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AED"/>
                </a:solidFill>
                <a:latin typeface="Calibri"/>
              </a:rPr>
              <a:t>Resize the setup pool from 1 to 8 workers live — visible speedup.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