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48640" y="26517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PARALLEL PROGRAMMING PROJECT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Matchmaking Service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48640" y="429768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A 5v5 matchmaking system built with java.util.concurrent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48640" y="6035040"/>
            <a:ext cx="10972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Student: </a:t>
            </a:r>
            <a:r>
              <a:rPr lang="en-US" sz="1300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Endri Baku SWE 3B</a:t>
            </a:r>
            <a:r>
              <a:rPr b="0" i="0" lang="en-US" sz="13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    |     Course: Parallel Programming     |     Epoka University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2 / 11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What is it?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A small 5v5 matchmaking service inspired by competitive games.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94360" y="274320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914400" y="2679192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Players join a queue with an MMR (skill rating).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594360" y="352044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914400" y="3456432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A background matchmaker continuously pairs 10 skill-close players into two balanced teams.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594360" y="429768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4233672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Bots are constantly added to the queue, so the service is always alive.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594360" y="507492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914400" y="5010912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Same kind of problem solved by CS2, Valorant, LoL and Dota 2 — at student scale.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3 / 11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TECHNOLOGY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Tech stack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/>
          <p:nvPr/>
        </p:nvSpPr>
        <p:spPr>
          <a:xfrm>
            <a:off x="548640" y="2011680"/>
            <a:ext cx="5349240" cy="36576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22960" y="2651760"/>
            <a:ext cx="4983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Java 17+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22960" y="3383280"/>
            <a:ext cx="498348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com.sun.net.httpserver.HttpServer  (built-in JDK)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java.util.concurrent  (all parallelism)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Jackson  (JSON serialization)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Maven  (build)</a:t>
            </a:r>
            <a:endParaRPr/>
          </a:p>
        </p:txBody>
      </p:sp>
      <p:sp>
        <p:nvSpPr>
          <p:cNvPr id="124" name="Google Shape;124;p15"/>
          <p:cNvSpPr/>
          <p:nvPr/>
        </p:nvSpPr>
        <p:spPr>
          <a:xfrm>
            <a:off x="6263640" y="2011680"/>
            <a:ext cx="5349240" cy="36576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537960" y="228600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537960" y="2651760"/>
            <a:ext cx="4983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React 18 + Vite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6537960" y="3383280"/>
            <a:ext cx="498348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Plain JavaScript  (no TypeScript)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4 components  (Login, Lobby, Queue, Match)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LiveStats sidebar  (always visible)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Polls /api/stats every 1 s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No frameworks. No databases. Just the JDK + React. Everything lives in memory while the server runs.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4 / 11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Four parallel components</a:t>
            </a:r>
            <a:endParaRPr/>
          </a:p>
        </p:txBody>
      </p:sp>
      <p:sp>
        <p:nvSpPr>
          <p:cNvPr id="138" name="Google Shape;138;p1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48640" y="1783080"/>
            <a:ext cx="5532120" cy="20574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77240" y="207568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463040" y="205740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HTTP request pool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1463040" y="249631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8 worker threads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14400" y="292608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Serves the REST API. Multiple browsers can register, queue and poll at the same time.</a:t>
            </a:r>
            <a:endParaRPr/>
          </a:p>
        </p:txBody>
      </p:sp>
      <p:sp>
        <p:nvSpPr>
          <p:cNvPr id="145" name="Google Shape;145;p16"/>
          <p:cNvSpPr/>
          <p:nvPr/>
        </p:nvSpPr>
        <p:spPr>
          <a:xfrm>
            <a:off x="6217920" y="1783080"/>
            <a:ext cx="5532120" cy="20574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6446520" y="20574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6446520" y="207568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7132320" y="205740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Matchmaker tick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7132320" y="249631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1 thread, every 500 ms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6583680" y="292608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Drains the queue, sorts by MMR, finds 10 skill-close players, builds two balanced teams.</a:t>
            </a:r>
            <a:endParaRPr/>
          </a:p>
        </p:txBody>
      </p:sp>
      <p:sp>
        <p:nvSpPr>
          <p:cNvPr id="151" name="Google Shape;151;p16"/>
          <p:cNvSpPr/>
          <p:nvPr/>
        </p:nvSpPr>
        <p:spPr>
          <a:xfrm>
            <a:off x="548640" y="4023360"/>
            <a:ext cx="5532120" cy="20574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77240" y="43159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463040" y="429768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Bot populator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1463040" y="473659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1 thread, every 500 ms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516636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Keeps the queue full of bots so the service is always alive. Target scales with worker count.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6217920" y="4023360"/>
            <a:ext cx="5532120" cy="205740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6446520" y="42976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6446520" y="43159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7132320" y="429768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Match-setup pool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7132320" y="473659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N workers (configurable)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6583680" y="516636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After a match is formed, setup work runs here. More workers ⇒ more matches prepared in parallel.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5 / 11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How a player flows through the thread pools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Four threads, two shared structures. Every horizontal arrow crosses a thread boundary.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457200" y="2423160"/>
            <a:ext cx="2514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1 — PRODUCERS</a:t>
            </a:r>
            <a:endParaRPr/>
          </a:p>
        </p:txBody>
      </p:sp>
      <p:sp>
        <p:nvSpPr>
          <p:cNvPr id="175" name="Google Shape;175;p17"/>
          <p:cNvSpPr/>
          <p:nvPr/>
        </p:nvSpPr>
        <p:spPr>
          <a:xfrm>
            <a:off x="457200" y="2788920"/>
            <a:ext cx="2514600" cy="24688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594360" y="297180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HTTP join + populator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1097280" y="3502152"/>
            <a:ext cx="12344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640080" y="3703320"/>
            <a:ext cx="2148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8 HTTP workers push tickets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  when players click Find Match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Bot populator pushes bots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  every 500 ms to keep queue full</a:t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3017520" y="3840480"/>
            <a:ext cx="411480" cy="36576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3474720" y="2423160"/>
            <a:ext cx="2514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2 — SHARED QUEUE</a:t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3474720" y="2788920"/>
            <a:ext cx="2514600" cy="2468880"/>
          </a:xfrm>
          <a:prstGeom prst="roundRect">
            <a:avLst>
              <a:gd fmla="val 5000" name="adj"/>
            </a:avLst>
          </a:prstGeom>
          <a:solidFill>
            <a:srgbClr val="1D232B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3611880" y="297180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LinkedBlockingQueue</a:t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4114800" y="3502152"/>
            <a:ext cx="12344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3657600" y="3703320"/>
            <a:ext cx="2148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Thread-safe FIFO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Producers call offer()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Consumer (matchmaker)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  calls poll() once per tick</a:t>
            </a:r>
            <a:endParaRPr/>
          </a:p>
        </p:txBody>
      </p:sp>
      <p:sp>
        <p:nvSpPr>
          <p:cNvPr id="185" name="Google Shape;185;p17"/>
          <p:cNvSpPr/>
          <p:nvPr/>
        </p:nvSpPr>
        <p:spPr>
          <a:xfrm>
            <a:off x="6035040" y="3840480"/>
            <a:ext cx="411480" cy="36576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6492240" y="2423160"/>
            <a:ext cx="2514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3 — MATCHMAKER TICK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6492240" y="2788920"/>
            <a:ext cx="2514600" cy="24688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6629400" y="297180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1 thread · every 500 ms</a:t>
            </a:r>
            <a:endParaRPr/>
          </a:p>
        </p:txBody>
      </p:sp>
      <p:sp>
        <p:nvSpPr>
          <p:cNvPr id="189" name="Google Shape;189;p17"/>
          <p:cNvSpPr/>
          <p:nvPr/>
        </p:nvSpPr>
        <p:spPr>
          <a:xfrm>
            <a:off x="7132320" y="3502152"/>
            <a:ext cx="12344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7"/>
          <p:cNvSpPr txBox="1"/>
          <p:nvPr/>
        </p:nvSpPr>
        <p:spPr>
          <a:xfrm>
            <a:off x="6675120" y="3703320"/>
            <a:ext cx="2148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Drain queue → sorted pool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Sort by MMR ascending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Sliding window of 10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Snake-draft team balance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matches.put + setupPool.submit</a:t>
            </a:r>
            <a:endParaRPr/>
          </a:p>
        </p:txBody>
      </p:sp>
      <p:sp>
        <p:nvSpPr>
          <p:cNvPr id="191" name="Google Shape;191;p17"/>
          <p:cNvSpPr/>
          <p:nvPr/>
        </p:nvSpPr>
        <p:spPr>
          <a:xfrm>
            <a:off x="9052560" y="3840480"/>
            <a:ext cx="411480" cy="36576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9509760" y="2423160"/>
            <a:ext cx="2514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4 — SETUP POOL</a:t>
            </a:r>
            <a:endParaRPr/>
          </a:p>
        </p:txBody>
      </p:sp>
      <p:sp>
        <p:nvSpPr>
          <p:cNvPr id="193" name="Google Shape;193;p17"/>
          <p:cNvSpPr/>
          <p:nvPr/>
        </p:nvSpPr>
        <p:spPr>
          <a:xfrm>
            <a:off x="9509760" y="2788920"/>
            <a:ext cx="2514600" cy="24688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9646920" y="297180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N workers · resizable live</a:t>
            </a:r>
            <a:endParaRPr/>
          </a:p>
        </p:txBody>
      </p:sp>
      <p:sp>
        <p:nvSpPr>
          <p:cNvPr id="195" name="Google Shape;195;p17"/>
          <p:cNvSpPr/>
          <p:nvPr/>
        </p:nvSpPr>
        <p:spPr>
          <a:xfrm>
            <a:off x="10149840" y="3502152"/>
            <a:ext cx="12344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7"/>
          <p:cNvSpPr txBox="1"/>
          <p:nvPr/>
        </p:nvSpPr>
        <p:spPr>
          <a:xfrm>
            <a:off x="9692640" y="3703320"/>
            <a:ext cx="2148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Each worker prepares one match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  (simulated 800 ms allocation)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With pool size N, up to N matches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  set up at the same time</a:t>
            </a:r>
            <a:endParaRPr/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Dropdown: 1 / 2 / 4 / 8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548640" y="562356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PARALLEL READ PATH</a:t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548640" y="5943600"/>
            <a:ext cx="11064240" cy="6400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onsolas"/>
                <a:ea typeface="Consolas"/>
                <a:cs typeface="Consolas"/>
                <a:sym typeface="Consolas"/>
              </a:rPr>
              <a:t>GET /api/queue/status  →  ConcurrentHashMap.get(playerId)  →  match payload  (no lock; all polls in parallel)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6 / 11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CONCURRENCY</a:t>
            </a: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java.util.concurrent primitives used</a:t>
            </a:r>
            <a:endParaRPr/>
          </a:p>
        </p:txBody>
      </p:sp>
      <p:sp>
        <p:nvSpPr>
          <p:cNvPr id="209" name="Google Shape;209;p18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548640" y="1828800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 txBox="1"/>
          <p:nvPr/>
        </p:nvSpPr>
        <p:spPr>
          <a:xfrm>
            <a:off x="777240" y="1938528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LinkedBlockingQueue&lt;QueueTicket&gt;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5120640" y="1947672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Producer/consumer hand-off — HTTP threads push, matchmaker drains.</a:t>
            </a:r>
            <a:endParaRPr/>
          </a:p>
        </p:txBody>
      </p:sp>
      <p:sp>
        <p:nvSpPr>
          <p:cNvPr id="213" name="Google Shape;213;p18"/>
          <p:cNvSpPr/>
          <p:nvPr/>
        </p:nvSpPr>
        <p:spPr>
          <a:xfrm>
            <a:off x="548640" y="2395728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8"/>
          <p:cNvSpPr txBox="1"/>
          <p:nvPr/>
        </p:nvSpPr>
        <p:spPr>
          <a:xfrm>
            <a:off x="777240" y="2505456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ScheduledExecutorService × 2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5120640" y="25146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Matchmaker tick and bot populator on separate threads.</a:t>
            </a: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548640" y="2962656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"/>
          <p:cNvSpPr txBox="1"/>
          <p:nvPr/>
        </p:nvSpPr>
        <p:spPr>
          <a:xfrm>
            <a:off x="777240" y="3072384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ThreadPoolExecutor × 2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5120640" y="308152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HTTP request pool and match-setup pool (resizable live).</a:t>
            </a: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548640" y="3529584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777240" y="3639312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ConcurrentHashMap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5120640" y="3648456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Lock-free reads of player &amp; match registries under heavy polling.</a:t>
            </a: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548640" y="4096512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 txBox="1"/>
          <p:nvPr/>
        </p:nvSpPr>
        <p:spPr>
          <a:xfrm>
            <a:off x="777240" y="4206240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ConcurrentLinkedQueue / AtomicLong</a:t>
            </a:r>
            <a:endParaRPr/>
          </a:p>
        </p:txBody>
      </p:sp>
      <p:sp>
        <p:nvSpPr>
          <p:cNvPr id="224" name="Google Shape;224;p18"/>
          <p:cNvSpPr txBox="1"/>
          <p:nvPr/>
        </p:nvSpPr>
        <p:spPr>
          <a:xfrm>
            <a:off x="5120640" y="4215384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Lock-free counters: tick count, match IDs, bots spawned.</a:t>
            </a:r>
            <a:endParaRPr/>
          </a:p>
        </p:txBody>
      </p:sp>
      <p:sp>
        <p:nvSpPr>
          <p:cNvPr id="225" name="Google Shape;225;p18"/>
          <p:cNvSpPr/>
          <p:nvPr/>
        </p:nvSpPr>
        <p:spPr>
          <a:xfrm>
            <a:off x="548640" y="4663440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8"/>
          <p:cNvSpPr txBox="1"/>
          <p:nvPr/>
        </p:nvSpPr>
        <p:spPr>
          <a:xfrm>
            <a:off x="777240" y="4773168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ReentrantLock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5120640" y="4782312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Critical section around the sorted waiting pool inside one tick.</a:t>
            </a:r>
            <a:endParaRPr/>
          </a:p>
        </p:txBody>
      </p:sp>
      <p:sp>
        <p:nvSpPr>
          <p:cNvPr id="228" name="Google Shape;228;p18"/>
          <p:cNvSpPr/>
          <p:nvPr/>
        </p:nvSpPr>
        <p:spPr>
          <a:xfrm>
            <a:off x="548640" y="5230368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8"/>
          <p:cNvSpPr txBox="1"/>
          <p:nvPr/>
        </p:nvSpPr>
        <p:spPr>
          <a:xfrm>
            <a:off x="777240" y="5340096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volatile + daemon threads</a:t>
            </a:r>
            <a:endParaRPr/>
          </a:p>
        </p:txBody>
      </p:sp>
      <p:sp>
        <p:nvSpPr>
          <p:cNvPr id="230" name="Google Shape;230;p18"/>
          <p:cNvSpPr txBox="1"/>
          <p:nvPr/>
        </p:nvSpPr>
        <p:spPr>
          <a:xfrm>
            <a:off x="5120640" y="534924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Cross-thread visibility for last-tick duration; clean shutdown.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7 / 11</a:t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ALGORITHM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How the matchmaker forms a match</a:t>
            </a:r>
            <a:endParaRPr/>
          </a:p>
        </p:txBody>
      </p:sp>
      <p:sp>
        <p:nvSpPr>
          <p:cNvPr id="240" name="Google Shape;240;p19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Every 500 ms, on a dedicated background thread: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685800" y="24688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1143000" y="245059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DRAIN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2743200" y="245059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Pull new arrivals from the BlockingQueue into a sorted pool.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685800" y="301752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1143000" y="299923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FILTER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2743200" y="299923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Drop tickets for players who cancelled.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85800" y="356616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1143000" y="354787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SORT</a:t>
            </a:r>
            <a:endParaRPr/>
          </a:p>
        </p:txBody>
      </p:sp>
      <p:sp>
        <p:nvSpPr>
          <p:cNvPr id="250" name="Google Shape;250;p19"/>
          <p:cNvSpPr txBox="1"/>
          <p:nvPr/>
        </p:nvSpPr>
        <p:spPr>
          <a:xfrm>
            <a:off x="2743200" y="354787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Sort the pool by MMR ascending — adjacent players are skill-close.</a:t>
            </a:r>
            <a:endParaRPr/>
          </a:p>
        </p:txBody>
      </p:sp>
      <p:sp>
        <p:nvSpPr>
          <p:cNvPr id="251" name="Google Shape;251;p19"/>
          <p:cNvSpPr txBox="1"/>
          <p:nvPr/>
        </p:nvSpPr>
        <p:spPr>
          <a:xfrm>
            <a:off x="685800" y="411480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1143000" y="409651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SCAN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2743200" y="409651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Slide a window of 10. If the MMR spread fits the tolerance, form a match.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685800" y="46634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1143000" y="464515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RELAX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2743200" y="464515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Tolerance starts at 300 MMR and widens 100 MMR / second waited (cap 1500).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685800" y="52120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1143000" y="519379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BALANCE</a:t>
            </a:r>
            <a:endParaRPr/>
          </a:p>
        </p:txBody>
      </p:sp>
      <p:sp>
        <p:nvSpPr>
          <p:cNvPr id="259" name="Google Shape;259;p19"/>
          <p:cNvSpPr txBox="1"/>
          <p:nvPr/>
        </p:nvSpPr>
        <p:spPr>
          <a:xfrm>
            <a:off x="2743200" y="519379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Sort the 10 by MMR desc, assign A,B,B,A,A,B,B,A,A,B — snake draft.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685800" y="576072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1143000" y="5742432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HAND OFF</a:t>
            </a:r>
            <a:endParaRPr/>
          </a:p>
        </p:txBody>
      </p:sp>
      <p:sp>
        <p:nvSpPr>
          <p:cNvPr id="262" name="Google Shape;262;p19"/>
          <p:cNvSpPr txBox="1"/>
          <p:nvPr/>
        </p:nvSpPr>
        <p:spPr>
          <a:xfrm>
            <a:off x="2743200" y="5742432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Submit setupMatch() to the parallel setup pool. Tick continues without blocking.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8 / 11</a:t>
            </a:r>
            <a:endParaRPr/>
          </a:p>
        </p:txBody>
      </p:sp>
      <p:sp>
        <p:nvSpPr>
          <p:cNvPr id="270" name="Google Shape;270;p20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TEAM BALANCE</a:t>
            </a:r>
            <a:endParaRPr/>
          </a:p>
        </p:txBody>
      </p:sp>
      <p:sp>
        <p:nvSpPr>
          <p:cNvPr id="271" name="Google Shape;271;p20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Snake draft keeps teams fair</a:t>
            </a:r>
            <a:endParaRPr/>
          </a:p>
        </p:txBody>
      </p:sp>
      <p:sp>
        <p:nvSpPr>
          <p:cNvPr id="272" name="Google Shape;272;p20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Sort 10 players by MMR (highest first), then assign in pattern A B B A A B B A A B.</a:t>
            </a:r>
            <a:endParaRPr/>
          </a:p>
        </p:txBody>
      </p:sp>
      <p:sp>
        <p:nvSpPr>
          <p:cNvPr id="274" name="Google Shape;274;p20"/>
          <p:cNvSpPr/>
          <p:nvPr/>
        </p:nvSpPr>
        <p:spPr>
          <a:xfrm>
            <a:off x="548640" y="2423160"/>
            <a:ext cx="5212080" cy="33832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822960" y="26517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TEAM A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822960" y="297180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8450 MMR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914400" y="36118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#1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4572000" y="3611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2000 MMR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914400" y="397764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#4</a:t>
            </a:r>
            <a:endParaRPr/>
          </a:p>
        </p:txBody>
      </p:sp>
      <p:sp>
        <p:nvSpPr>
          <p:cNvPr id="280" name="Google Shape;280;p20"/>
          <p:cNvSpPr txBox="1"/>
          <p:nvPr/>
        </p:nvSpPr>
        <p:spPr>
          <a:xfrm>
            <a:off x="4572000" y="397764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1800 MMR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914400" y="43434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#5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4572000" y="434340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1700 MMR</a:t>
            </a:r>
            <a:endParaRPr/>
          </a:p>
        </p:txBody>
      </p:sp>
      <p:sp>
        <p:nvSpPr>
          <p:cNvPr id="283" name="Google Shape;283;p20"/>
          <p:cNvSpPr txBox="1"/>
          <p:nvPr/>
        </p:nvSpPr>
        <p:spPr>
          <a:xfrm>
            <a:off x="9144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#8</a:t>
            </a:r>
            <a:endParaRPr/>
          </a:p>
        </p:txBody>
      </p:sp>
      <p:sp>
        <p:nvSpPr>
          <p:cNvPr id="284" name="Google Shape;284;p20"/>
          <p:cNvSpPr txBox="1"/>
          <p:nvPr/>
        </p:nvSpPr>
        <p:spPr>
          <a:xfrm>
            <a:off x="4572000" y="470916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1500 MMR</a:t>
            </a:r>
            <a:endParaRPr/>
          </a:p>
        </p:txBody>
      </p:sp>
      <p:sp>
        <p:nvSpPr>
          <p:cNvPr id="285" name="Google Shape;285;p20"/>
          <p:cNvSpPr txBox="1"/>
          <p:nvPr/>
        </p:nvSpPr>
        <p:spPr>
          <a:xfrm>
            <a:off x="914400" y="507492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#9</a:t>
            </a:r>
            <a:endParaRPr/>
          </a:p>
        </p:txBody>
      </p:sp>
      <p:sp>
        <p:nvSpPr>
          <p:cNvPr id="286" name="Google Shape;286;p20"/>
          <p:cNvSpPr txBox="1"/>
          <p:nvPr/>
        </p:nvSpPr>
        <p:spPr>
          <a:xfrm>
            <a:off x="4572000" y="507492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1450 MMR</a:t>
            </a:r>
            <a:endParaRPr/>
          </a:p>
        </p:txBody>
      </p:sp>
      <p:sp>
        <p:nvSpPr>
          <p:cNvPr id="287" name="Google Shape;287;p20"/>
          <p:cNvSpPr/>
          <p:nvPr/>
        </p:nvSpPr>
        <p:spPr>
          <a:xfrm>
            <a:off x="6446520" y="2423160"/>
            <a:ext cx="5212080" cy="33832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0"/>
          <p:cNvSpPr txBox="1"/>
          <p:nvPr/>
        </p:nvSpPr>
        <p:spPr>
          <a:xfrm>
            <a:off x="6720840" y="26517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TEAM B</a:t>
            </a:r>
            <a:endParaRPr/>
          </a:p>
        </p:txBody>
      </p:sp>
      <p:sp>
        <p:nvSpPr>
          <p:cNvPr id="289" name="Google Shape;289;p20"/>
          <p:cNvSpPr txBox="1"/>
          <p:nvPr/>
        </p:nvSpPr>
        <p:spPr>
          <a:xfrm>
            <a:off x="6720840" y="297180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8400 MMR</a:t>
            </a:r>
            <a:endParaRPr/>
          </a:p>
        </p:txBody>
      </p:sp>
      <p:sp>
        <p:nvSpPr>
          <p:cNvPr id="290" name="Google Shape;290;p20"/>
          <p:cNvSpPr txBox="1"/>
          <p:nvPr/>
        </p:nvSpPr>
        <p:spPr>
          <a:xfrm>
            <a:off x="6812280" y="36118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#2</a:t>
            </a:r>
            <a:endParaRPr/>
          </a:p>
        </p:txBody>
      </p:sp>
      <p:sp>
        <p:nvSpPr>
          <p:cNvPr id="291" name="Google Shape;291;p20"/>
          <p:cNvSpPr txBox="1"/>
          <p:nvPr/>
        </p:nvSpPr>
        <p:spPr>
          <a:xfrm>
            <a:off x="10469880" y="3611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1900 MMR</a:t>
            </a:r>
            <a:endParaRPr/>
          </a:p>
        </p:txBody>
      </p:sp>
      <p:sp>
        <p:nvSpPr>
          <p:cNvPr id="292" name="Google Shape;292;p20"/>
          <p:cNvSpPr txBox="1"/>
          <p:nvPr/>
        </p:nvSpPr>
        <p:spPr>
          <a:xfrm>
            <a:off x="6812280" y="397764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#3</a:t>
            </a:r>
            <a:endParaRPr/>
          </a:p>
        </p:txBody>
      </p:sp>
      <p:sp>
        <p:nvSpPr>
          <p:cNvPr id="293" name="Google Shape;293;p20"/>
          <p:cNvSpPr txBox="1"/>
          <p:nvPr/>
        </p:nvSpPr>
        <p:spPr>
          <a:xfrm>
            <a:off x="10469880" y="397764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1850 MMR</a:t>
            </a:r>
            <a:endParaRPr/>
          </a:p>
        </p:txBody>
      </p:sp>
      <p:sp>
        <p:nvSpPr>
          <p:cNvPr id="294" name="Google Shape;294;p20"/>
          <p:cNvSpPr txBox="1"/>
          <p:nvPr/>
        </p:nvSpPr>
        <p:spPr>
          <a:xfrm>
            <a:off x="6812280" y="43434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#6</a:t>
            </a:r>
            <a:endParaRPr/>
          </a:p>
        </p:txBody>
      </p:sp>
      <p:sp>
        <p:nvSpPr>
          <p:cNvPr id="295" name="Google Shape;295;p20"/>
          <p:cNvSpPr txBox="1"/>
          <p:nvPr/>
        </p:nvSpPr>
        <p:spPr>
          <a:xfrm>
            <a:off x="10469880" y="434340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1650 MMR</a:t>
            </a:r>
            <a:endParaRPr/>
          </a:p>
        </p:txBody>
      </p:sp>
      <p:sp>
        <p:nvSpPr>
          <p:cNvPr id="296" name="Google Shape;296;p20"/>
          <p:cNvSpPr txBox="1"/>
          <p:nvPr/>
        </p:nvSpPr>
        <p:spPr>
          <a:xfrm>
            <a:off x="681228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#7</a:t>
            </a:r>
            <a:endParaRPr/>
          </a:p>
        </p:txBody>
      </p:sp>
      <p:sp>
        <p:nvSpPr>
          <p:cNvPr id="297" name="Google Shape;297;p20"/>
          <p:cNvSpPr txBox="1"/>
          <p:nvPr/>
        </p:nvSpPr>
        <p:spPr>
          <a:xfrm>
            <a:off x="10469880" y="470916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1600 MMR</a:t>
            </a:r>
            <a:endParaRPr/>
          </a:p>
        </p:txBody>
      </p:sp>
      <p:sp>
        <p:nvSpPr>
          <p:cNvPr id="298" name="Google Shape;298;p20"/>
          <p:cNvSpPr txBox="1"/>
          <p:nvPr/>
        </p:nvSpPr>
        <p:spPr>
          <a:xfrm>
            <a:off x="6812280" y="507492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 #10</a:t>
            </a:r>
            <a:endParaRPr/>
          </a:p>
        </p:txBody>
      </p:sp>
      <p:sp>
        <p:nvSpPr>
          <p:cNvPr id="299" name="Google Shape;299;p20"/>
          <p:cNvSpPr txBox="1"/>
          <p:nvPr/>
        </p:nvSpPr>
        <p:spPr>
          <a:xfrm>
            <a:off x="10469880" y="507492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1400 MMR</a:t>
            </a:r>
            <a:endParaRPr/>
          </a:p>
        </p:txBody>
      </p:sp>
      <p:sp>
        <p:nvSpPr>
          <p:cNvPr id="300" name="Google Shape;300;p20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Total difference: 50 MMR.  Typical match: under 100 MMR across two 5-stacks.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9 / 11</a:t>
            </a:r>
            <a:endParaRPr/>
          </a:p>
        </p:txBody>
      </p:sp>
      <p:sp>
        <p:nvSpPr>
          <p:cNvPr id="308" name="Google Shape;308;p2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Live parallelism, visible in the UI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An always-visible sidebar shows the four threads working in real time.</a:t>
            </a:r>
            <a:endParaRPr/>
          </a:p>
        </p:txBody>
      </p:sp>
      <p:sp>
        <p:nvSpPr>
          <p:cNvPr id="312" name="Google Shape;312;p21"/>
          <p:cNvSpPr/>
          <p:nvPr/>
        </p:nvSpPr>
        <p:spPr>
          <a:xfrm>
            <a:off x="594360" y="25786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1"/>
          <p:cNvSpPr txBox="1"/>
          <p:nvPr/>
        </p:nvSpPr>
        <p:spPr>
          <a:xfrm>
            <a:off x="960120" y="24688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Two big counters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960120" y="27889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Players in queue and total matches formed.</a:t>
            </a:r>
            <a:endParaRPr/>
          </a:p>
        </p:txBody>
      </p:sp>
      <p:sp>
        <p:nvSpPr>
          <p:cNvPr id="315" name="Google Shape;315;p21"/>
          <p:cNvSpPr/>
          <p:nvPr/>
        </p:nvSpPr>
        <p:spPr>
          <a:xfrm>
            <a:off x="594360" y="32644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 txBox="1"/>
          <p:nvPr/>
        </p:nvSpPr>
        <p:spPr>
          <a:xfrm>
            <a:off x="960120" y="31546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Pulse indicators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960120" y="34747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Green dot lights up when a thread is busy.</a:t>
            </a:r>
            <a:endParaRPr/>
          </a:p>
        </p:txBody>
      </p:sp>
      <p:sp>
        <p:nvSpPr>
          <p:cNvPr id="318" name="Google Shape;318;p21"/>
          <p:cNvSpPr/>
          <p:nvPr/>
        </p:nvSpPr>
        <p:spPr>
          <a:xfrm>
            <a:off x="594360" y="39502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 txBox="1"/>
          <p:nvPr/>
        </p:nvSpPr>
        <p:spPr>
          <a:xfrm>
            <a:off x="960120" y="38404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Capacity bars</a:t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960120" y="41605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Visualize how many setup workers are running right now.</a:t>
            </a:r>
            <a:endParaRPr/>
          </a:p>
        </p:txBody>
      </p:sp>
      <p:sp>
        <p:nvSpPr>
          <p:cNvPr id="321" name="Google Shape;321;p21"/>
          <p:cNvSpPr/>
          <p:nvPr/>
        </p:nvSpPr>
        <p:spPr>
          <a:xfrm>
            <a:off x="594360" y="46360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1"/>
          <p:cNvSpPr txBox="1"/>
          <p:nvPr/>
        </p:nvSpPr>
        <p:spPr>
          <a:xfrm>
            <a:off x="960120" y="45262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Live dropdown</a:t>
            </a:r>
            <a:endParaRPr/>
          </a:p>
        </p:txBody>
      </p:sp>
      <p:sp>
        <p:nvSpPr>
          <p:cNvPr id="323" name="Google Shape;323;p21"/>
          <p:cNvSpPr txBox="1"/>
          <p:nvPr/>
        </p:nvSpPr>
        <p:spPr>
          <a:xfrm>
            <a:off x="960120" y="48463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Resize the setup pool live: 1, 2, 4 or 8 workers.</a:t>
            </a:r>
            <a:endParaRPr/>
          </a:p>
        </p:txBody>
      </p:sp>
      <p:sp>
        <p:nvSpPr>
          <p:cNvPr id="324" name="Google Shape;324;p21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1"/>
          <p:cNvSpPr txBox="1"/>
          <p:nvPr/>
        </p:nvSpPr>
        <p:spPr>
          <a:xfrm>
            <a:off x="960120" y="521208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Visible speedup</a:t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>
            <a:off x="960120" y="553212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Switch from 1 to 8 workers — match throughput jumps ~6×.</a:t>
            </a:r>
            <a:endParaRPr/>
          </a:p>
        </p:txBody>
      </p:sp>
      <p:sp>
        <p:nvSpPr>
          <p:cNvPr id="327" name="Google Shape;327;p21"/>
          <p:cNvSpPr/>
          <p:nvPr/>
        </p:nvSpPr>
        <p:spPr>
          <a:xfrm>
            <a:off x="6858000" y="2194560"/>
            <a:ext cx="4754880" cy="429768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7178040" y="246888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LIVE SYSTEM ACTIVITY</a:t>
            </a:r>
            <a:endParaRPr/>
          </a:p>
        </p:txBody>
      </p:sp>
      <p:sp>
        <p:nvSpPr>
          <p:cNvPr id="329" name="Google Shape;329;p21"/>
          <p:cNvSpPr/>
          <p:nvPr/>
        </p:nvSpPr>
        <p:spPr>
          <a:xfrm>
            <a:off x="7178040" y="2880360"/>
            <a:ext cx="1965960" cy="868680"/>
          </a:xfrm>
          <a:prstGeom prst="roundRect">
            <a:avLst>
              <a:gd fmla="val 5000" name="adj"/>
            </a:avLst>
          </a:prstGeom>
          <a:solidFill>
            <a:srgbClr val="1D232B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7178040" y="2926080"/>
            <a:ext cx="1965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78</a:t>
            </a:r>
            <a:endParaRPr/>
          </a:p>
        </p:txBody>
      </p:sp>
      <p:sp>
        <p:nvSpPr>
          <p:cNvPr id="331" name="Google Shape;331;p21"/>
          <p:cNvSpPr txBox="1"/>
          <p:nvPr/>
        </p:nvSpPr>
        <p:spPr>
          <a:xfrm>
            <a:off x="7178040" y="338328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in queue</a:t>
            </a:r>
            <a:endParaRPr/>
          </a:p>
        </p:txBody>
      </p:sp>
      <p:sp>
        <p:nvSpPr>
          <p:cNvPr id="332" name="Google Shape;332;p21"/>
          <p:cNvSpPr/>
          <p:nvPr/>
        </p:nvSpPr>
        <p:spPr>
          <a:xfrm>
            <a:off x="9326880" y="2880360"/>
            <a:ext cx="1965960" cy="868680"/>
          </a:xfrm>
          <a:prstGeom prst="roundRect">
            <a:avLst>
              <a:gd fmla="val 5000" name="adj"/>
            </a:avLst>
          </a:prstGeom>
          <a:solidFill>
            <a:srgbClr val="1D232B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1"/>
          <p:cNvSpPr txBox="1"/>
          <p:nvPr/>
        </p:nvSpPr>
        <p:spPr>
          <a:xfrm>
            <a:off x="9326880" y="2926080"/>
            <a:ext cx="1965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/>
          </a:p>
        </p:txBody>
      </p:sp>
      <p:sp>
        <p:nvSpPr>
          <p:cNvPr id="334" name="Google Shape;334;p21"/>
          <p:cNvSpPr txBox="1"/>
          <p:nvPr/>
        </p:nvSpPr>
        <p:spPr>
          <a:xfrm>
            <a:off x="9326880" y="338328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matches formed</a:t>
            </a:r>
            <a:endParaRPr/>
          </a:p>
        </p:txBody>
      </p:sp>
      <p:sp>
        <p:nvSpPr>
          <p:cNvPr id="335" name="Google Shape;335;p21"/>
          <p:cNvSpPr/>
          <p:nvPr/>
        </p:nvSpPr>
        <p:spPr>
          <a:xfrm>
            <a:off x="7223760" y="42336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1"/>
          <p:cNvSpPr txBox="1"/>
          <p:nvPr/>
        </p:nvSpPr>
        <p:spPr>
          <a:xfrm>
            <a:off x="7498080" y="411480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Matchmaker tick</a:t>
            </a:r>
            <a:endParaRPr/>
          </a:p>
        </p:txBody>
      </p:sp>
      <p:sp>
        <p:nvSpPr>
          <p:cNvPr id="337" name="Google Shape;337;p21"/>
          <p:cNvSpPr txBox="1"/>
          <p:nvPr/>
        </p:nvSpPr>
        <p:spPr>
          <a:xfrm>
            <a:off x="7498080" y="434340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onsolas"/>
                <a:ea typeface="Consolas"/>
                <a:cs typeface="Consolas"/>
                <a:sym typeface="Consolas"/>
              </a:rPr>
              <a:t>tick #142 · 3 ms</a:t>
            </a:r>
            <a:endParaRPr/>
          </a:p>
        </p:txBody>
      </p:sp>
      <p:sp>
        <p:nvSpPr>
          <p:cNvPr id="338" name="Google Shape;338;p21"/>
          <p:cNvSpPr/>
          <p:nvPr/>
        </p:nvSpPr>
        <p:spPr>
          <a:xfrm>
            <a:off x="7223760" y="473659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7498080" y="461772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Bot populator</a:t>
            </a:r>
            <a:endParaRPr/>
          </a:p>
        </p:txBody>
      </p:sp>
      <p:sp>
        <p:nvSpPr>
          <p:cNvPr id="340" name="Google Shape;340;p21"/>
          <p:cNvSpPr txBox="1"/>
          <p:nvPr/>
        </p:nvSpPr>
        <p:spPr>
          <a:xfrm>
            <a:off x="7498080" y="484632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onsolas"/>
                <a:ea typeface="Consolas"/>
                <a:cs typeface="Consolas"/>
                <a:sym typeface="Consolas"/>
              </a:rPr>
              <a:t>264 bots spawned</a:t>
            </a: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223760" y="52395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7498080" y="5120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Match-setup pool</a:t>
            </a:r>
            <a:endParaRPr/>
          </a:p>
        </p:txBody>
      </p:sp>
      <p:sp>
        <p:nvSpPr>
          <p:cNvPr id="343" name="Google Shape;343;p21"/>
          <p:cNvSpPr txBox="1"/>
          <p:nvPr/>
        </p:nvSpPr>
        <p:spPr>
          <a:xfrm>
            <a:off x="7498080" y="53492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onsolas"/>
                <a:ea typeface="Consolas"/>
                <a:cs typeface="Consolas"/>
                <a:sym typeface="Consolas"/>
              </a:rPr>
              <a:t>4 / 4 workers busy</a:t>
            </a: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7223760" y="57424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7498080" y="562356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HTTP request pool</a:t>
            </a:r>
            <a:endParaRPr/>
          </a:p>
        </p:txBody>
      </p:sp>
      <p:sp>
        <p:nvSpPr>
          <p:cNvPr id="346" name="Google Shape;346;p21"/>
          <p:cNvSpPr txBox="1"/>
          <p:nvPr/>
        </p:nvSpPr>
        <p:spPr>
          <a:xfrm>
            <a:off x="7498080" y="585216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onsolas"/>
                <a:ea typeface="Consolas"/>
                <a:cs typeface="Consolas"/>
                <a:sym typeface="Consolas"/>
              </a:rPr>
              <a:t>1 / 8 workers busy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2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10 / 11</a:t>
            </a:r>
            <a:endParaRPr/>
          </a:p>
        </p:txBody>
      </p:sp>
      <p:sp>
        <p:nvSpPr>
          <p:cNvPr id="354" name="Google Shape;354;p2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endParaRPr/>
          </a:p>
        </p:txBody>
      </p:sp>
      <p:sp>
        <p:nvSpPr>
          <p:cNvPr id="355" name="Google Shape;355;p22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How to run the demo</a:t>
            </a:r>
            <a:endParaRPr/>
          </a:p>
        </p:txBody>
      </p:sp>
      <p:sp>
        <p:nvSpPr>
          <p:cNvPr id="356" name="Google Shape;356;p22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2"/>
          <p:cNvSpPr txBox="1"/>
          <p:nvPr/>
        </p:nvSpPr>
        <p:spPr>
          <a:xfrm>
            <a:off x="548640" y="1874519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1.  Start the backend  (in one terminal)</a:t>
            </a:r>
            <a:endParaRPr/>
          </a:p>
        </p:txBody>
      </p:sp>
      <p:sp>
        <p:nvSpPr>
          <p:cNvPr id="358" name="Google Shape;358;p22"/>
          <p:cNvSpPr/>
          <p:nvPr/>
        </p:nvSpPr>
        <p:spPr>
          <a:xfrm>
            <a:off x="548640" y="2377440"/>
            <a:ext cx="10972800" cy="73152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2"/>
          <p:cNvSpPr txBox="1"/>
          <p:nvPr/>
        </p:nvSpPr>
        <p:spPr>
          <a:xfrm>
            <a:off x="822960" y="2542032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onsolas"/>
                <a:ea typeface="Consolas"/>
                <a:cs typeface="Consolas"/>
                <a:sym typeface="Consolas"/>
              </a:rPr>
              <a:t>cd backend &amp;&amp; mvn compile exec:java</a:t>
            </a:r>
            <a:endParaRPr/>
          </a:p>
        </p:txBody>
      </p:sp>
      <p:sp>
        <p:nvSpPr>
          <p:cNvPr id="360" name="Google Shape;360;p2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2.  Start the frontend  (in another terminal)</a:t>
            </a:r>
            <a:endParaRPr/>
          </a:p>
        </p:txBody>
      </p:sp>
      <p:sp>
        <p:nvSpPr>
          <p:cNvPr id="361" name="Google Shape;361;p22"/>
          <p:cNvSpPr/>
          <p:nvPr/>
        </p:nvSpPr>
        <p:spPr>
          <a:xfrm>
            <a:off x="548640" y="3886200"/>
            <a:ext cx="10972800" cy="73152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2"/>
          <p:cNvSpPr txBox="1"/>
          <p:nvPr/>
        </p:nvSpPr>
        <p:spPr>
          <a:xfrm>
            <a:off x="822960" y="4050791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AED"/>
                </a:solidFill>
                <a:latin typeface="Consolas"/>
                <a:ea typeface="Consolas"/>
                <a:cs typeface="Consolas"/>
                <a:sym typeface="Consolas"/>
              </a:rPr>
              <a:t>cd frontend &amp;&amp; npm install &amp;&amp; npm run dev</a:t>
            </a:r>
            <a:endParaRPr/>
          </a:p>
        </p:txBody>
      </p:sp>
      <p:sp>
        <p:nvSpPr>
          <p:cNvPr id="363" name="Google Shape;363;p22"/>
          <p:cNvSpPr txBox="1"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3.  Open the app and play</a:t>
            </a:r>
            <a:endParaRPr/>
          </a:p>
        </p:txBody>
      </p:sp>
      <p:sp>
        <p:nvSpPr>
          <p:cNvPr id="364" name="Google Shape;364;p22"/>
          <p:cNvSpPr/>
          <p:nvPr/>
        </p:nvSpPr>
        <p:spPr>
          <a:xfrm>
            <a:off x="548640" y="5394960"/>
            <a:ext cx="10972800" cy="1005840"/>
          </a:xfrm>
          <a:prstGeom prst="roundRect">
            <a:avLst>
              <a:gd fmla="val 5000" name="adj"/>
            </a:avLst>
          </a:prstGeom>
          <a:solidFill>
            <a:srgbClr val="161A20"/>
          </a:solidFill>
          <a:ln cap="flat" cmpd="sng" w="9525">
            <a:solidFill>
              <a:srgbClr val="2A30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868680" y="5440680"/>
            <a:ext cx="10424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 Open  http://localhost:5173  — enter any name to register.</a:t>
            </a:r>
            <a:endParaRPr/>
          </a:p>
        </p:txBody>
      </p:sp>
      <p:sp>
        <p:nvSpPr>
          <p:cNvPr id="366" name="Google Shape;366;p22"/>
          <p:cNvSpPr txBox="1"/>
          <p:nvPr/>
        </p:nvSpPr>
        <p:spPr>
          <a:xfrm>
            <a:off x="868680" y="5733288"/>
            <a:ext cx="10424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 Click 'Find Match' — you'll be matched within a second (the queue is full of bots).</a:t>
            </a:r>
            <a:endParaRPr/>
          </a:p>
        </p:txBody>
      </p:sp>
      <p:sp>
        <p:nvSpPr>
          <p:cNvPr id="367" name="Google Shape;367;p22"/>
          <p:cNvSpPr txBox="1"/>
          <p:nvPr/>
        </p:nvSpPr>
        <p:spPr>
          <a:xfrm>
            <a:off x="868680" y="6025896"/>
            <a:ext cx="10424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•  Try the 'Match-setup workers' dropdown: switch from 1 to 8 and watch the capacity bar fill up.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F97"/>
                </a:solidFill>
                <a:latin typeface="Calibri"/>
                <a:ea typeface="Calibri"/>
                <a:cs typeface="Calibri"/>
                <a:sym typeface="Calibri"/>
              </a:rPr>
              <a:t>11 / 11</a:t>
            </a:r>
            <a:endParaRPr/>
          </a:p>
        </p:txBody>
      </p:sp>
      <p:sp>
        <p:nvSpPr>
          <p:cNvPr id="375" name="Google Shape;375;p2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/>
          </a:p>
        </p:txBody>
      </p:sp>
      <p:sp>
        <p:nvSpPr>
          <p:cNvPr id="376" name="Google Shape;376;p23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What this project demonstrates</a:t>
            </a:r>
            <a:endParaRPr/>
          </a:p>
        </p:txBody>
      </p:sp>
      <p:sp>
        <p:nvSpPr>
          <p:cNvPr id="377" name="Google Shape;377;p23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3"/>
          <p:cNvSpPr txBox="1"/>
          <p:nvPr/>
        </p:nvSpPr>
        <p:spPr>
          <a:xfrm>
            <a:off x="594360" y="189280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380" name="Google Shape;380;p23"/>
          <p:cNvSpPr txBox="1"/>
          <p:nvPr/>
        </p:nvSpPr>
        <p:spPr>
          <a:xfrm>
            <a:off x="1234440" y="18288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Real-world domain</a:t>
            </a:r>
            <a:endParaRPr/>
          </a:p>
        </p:txBody>
      </p:sp>
      <p:sp>
        <p:nvSpPr>
          <p:cNvPr id="381" name="Google Shape;381;p23"/>
          <p:cNvSpPr txBox="1"/>
          <p:nvPr/>
        </p:nvSpPr>
        <p:spPr>
          <a:xfrm>
            <a:off x="1234440" y="2194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Game matchmaking — the same class of problem CS2, Valorant and LoL solve.</a:t>
            </a:r>
            <a:endParaRPr/>
          </a:p>
        </p:txBody>
      </p:sp>
      <p:sp>
        <p:nvSpPr>
          <p:cNvPr id="382" name="Google Shape;382;p23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3"/>
          <p:cNvSpPr txBox="1"/>
          <p:nvPr/>
        </p:nvSpPr>
        <p:spPr>
          <a:xfrm>
            <a:off x="594360" y="276148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384" name="Google Shape;384;p23"/>
          <p:cNvSpPr txBox="1"/>
          <p:nvPr/>
        </p:nvSpPr>
        <p:spPr>
          <a:xfrm>
            <a:off x="1234440" y="26974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Four cooperating thread pools</a:t>
            </a:r>
            <a:endParaRPr/>
          </a:p>
        </p:txBody>
      </p:sp>
      <p:sp>
        <p:nvSpPr>
          <p:cNvPr id="385" name="Google Shape;385;p23"/>
          <p:cNvSpPr txBox="1"/>
          <p:nvPr/>
        </p:nvSpPr>
        <p:spPr>
          <a:xfrm>
            <a:off x="1234440" y="30632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HTTP workers, matchmaker tick, bot populator, match-setup pool.</a:t>
            </a:r>
            <a:endParaRPr/>
          </a:p>
        </p:txBody>
      </p:sp>
      <p:sp>
        <p:nvSpPr>
          <p:cNvPr id="386" name="Google Shape;386;p23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3"/>
          <p:cNvSpPr txBox="1"/>
          <p:nvPr/>
        </p:nvSpPr>
        <p:spPr>
          <a:xfrm>
            <a:off x="594360" y="363016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388" name="Google Shape;388;p23"/>
          <p:cNvSpPr txBox="1"/>
          <p:nvPr/>
        </p:nvSpPr>
        <p:spPr>
          <a:xfrm>
            <a:off x="1234440" y="3566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Seven concurrency primitives</a:t>
            </a:r>
            <a:endParaRPr/>
          </a:p>
        </p:txBody>
      </p:sp>
      <p:sp>
        <p:nvSpPr>
          <p:cNvPr id="389" name="Google Shape;389;p23"/>
          <p:cNvSpPr txBox="1"/>
          <p:nvPr/>
        </p:nvSpPr>
        <p:spPr>
          <a:xfrm>
            <a:off x="1234440" y="39319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BlockingQueue, ScheduledExecutorService, ThreadPoolExecutor, ConcurrentHashMap, AtomicLong, ReentrantLock, volatile.</a:t>
            </a:r>
            <a:endParaRPr/>
          </a:p>
        </p:txBody>
      </p:sp>
      <p:sp>
        <p:nvSpPr>
          <p:cNvPr id="390" name="Google Shape;390;p23"/>
          <p:cNvSpPr/>
          <p:nvPr/>
        </p:nvSpPr>
        <p:spPr>
          <a:xfrm>
            <a:off x="594360" y="448056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3"/>
          <p:cNvSpPr txBox="1"/>
          <p:nvPr/>
        </p:nvSpPr>
        <p:spPr>
          <a:xfrm>
            <a:off x="594360" y="44988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392" name="Google Shape;392;p23"/>
          <p:cNvSpPr txBox="1"/>
          <p:nvPr/>
        </p:nvSpPr>
        <p:spPr>
          <a:xfrm>
            <a:off x="1234440" y="44348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Live visualization</a:t>
            </a:r>
            <a:endParaRPr/>
          </a:p>
        </p:txBody>
      </p:sp>
      <p:sp>
        <p:nvSpPr>
          <p:cNvPr id="393" name="Google Shape;393;p23"/>
          <p:cNvSpPr txBox="1"/>
          <p:nvPr/>
        </p:nvSpPr>
        <p:spPr>
          <a:xfrm>
            <a:off x="1234440" y="4800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The UI shows every thread pool busy in real time.</a:t>
            </a:r>
            <a:endParaRPr/>
          </a:p>
        </p:txBody>
      </p:sp>
      <p:sp>
        <p:nvSpPr>
          <p:cNvPr id="394" name="Google Shape;394;p23"/>
          <p:cNvSpPr/>
          <p:nvPr/>
        </p:nvSpPr>
        <p:spPr>
          <a:xfrm>
            <a:off x="594360" y="53492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3"/>
          <p:cNvSpPr txBox="1"/>
          <p:nvPr/>
        </p:nvSpPr>
        <p:spPr>
          <a:xfrm>
            <a:off x="594360" y="536752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F1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396" name="Google Shape;396;p23"/>
          <p:cNvSpPr txBox="1"/>
          <p:nvPr/>
        </p:nvSpPr>
        <p:spPr>
          <a:xfrm>
            <a:off x="1234440" y="53035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Tunable parallelism</a:t>
            </a:r>
            <a:endParaRPr/>
          </a:p>
        </p:txBody>
      </p:sp>
      <p:sp>
        <p:nvSpPr>
          <p:cNvPr id="397" name="Google Shape;397;p23"/>
          <p:cNvSpPr txBox="1"/>
          <p:nvPr/>
        </p:nvSpPr>
        <p:spPr>
          <a:xfrm>
            <a:off x="1234440" y="56692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8EAED"/>
                </a:solidFill>
                <a:latin typeface="Calibri"/>
                <a:ea typeface="Calibri"/>
                <a:cs typeface="Calibri"/>
                <a:sym typeface="Calibri"/>
              </a:rPr>
              <a:t>Resize the setup pool from 1 to 8 workers live — visible speedup.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